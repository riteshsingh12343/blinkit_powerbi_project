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7" r:id="rId7"/>
    <p:sldId id="266" r:id="rId8"/>
    <p:sldId id="264" r:id="rId9"/>
    <p:sldId id="265" r:id="rId10"/>
    <p:sldId id="263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83070F67-A0CA-4BDD-AF7F-A7917B39C6C4}">
          <p14:sldIdLst>
            <p14:sldId id="256"/>
            <p14:sldId id="258"/>
            <p14:sldId id="259"/>
            <p14:sldId id="260"/>
            <p14:sldId id="261"/>
            <p14:sldId id="267"/>
            <p14:sldId id="266"/>
            <p14:sldId id="264"/>
            <p14:sldId id="265"/>
            <p14:sldId id="263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3EC5F"/>
    <a:srgbClr val="0C83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-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A4216-BC51-4A19-972A-4E9FC2116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5C01A2-6006-0229-95BB-549BB79707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71C9B-1460-24E3-6677-744CA0341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B93D9-3CFE-45F9-B76F-2FB8E8702116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DEFC2-80FD-57A1-CB8B-8F337CEB2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0ED8F-6D6D-B2B2-B2D2-3074D355A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03EEA-B38B-4C05-B186-7F8652767D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9567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05B2C-33EA-F681-94CA-05C079AD2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C55B0-7BA0-6D01-CAC2-0D2DFF9099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A20362-4A83-F13D-7835-4334AF72F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B93D9-3CFE-45F9-B76F-2FB8E8702116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F7EB1-7C9A-6E85-1680-CD4C43E03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3E84F-25A8-6063-F776-9786FC2EB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03EEA-B38B-4C05-B186-7F8652767D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9942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AF37F-B57E-45C4-DF5C-208CDF8BC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F6E00-FE6C-6464-9ABC-39B88963A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BE296-1454-AFB1-3697-355BF1479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B93D9-3CFE-45F9-B76F-2FB8E8702116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3B3A6-044B-FFBE-8375-2FC26F646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FF6938-13FB-AFB1-8B89-50DEB84DF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03EEA-B38B-4C05-B186-7F8652767D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6099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D8F9D-44BA-0893-14C0-6069CAC61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54878-3452-C383-B8AD-121EA8942A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FBB163-05DD-4190-53ED-63620AE81E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444465-C13E-1086-8DAD-01278FC0F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B93D9-3CFE-45F9-B76F-2FB8E8702116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4C104A-09A5-A6B2-88F0-3DFBE36D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D81C7D-EDAF-C16D-02FF-E9630EFD6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03EEA-B38B-4C05-B186-7F8652767D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8457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AB478-0935-E970-FB10-342C30D3A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92AEEF-74EA-D93F-AFE3-FB0010DDA5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F0399D-7867-D03E-A07F-8FE8ACF5AF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295ED2-6FE0-D526-A131-906368C84B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6B5F28-BCB9-FE6D-D879-12D26D4AE6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DE22E5-2C80-A141-7FA8-A5C428C1A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B93D9-3CFE-45F9-B76F-2FB8E8702116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1CB58D-25D8-99D5-C67E-2302073AE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0B4DC7-7420-3286-6BB9-7841B9EDE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03EEA-B38B-4C05-B186-7F8652767D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894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5F2CB-75BE-FCA2-43CD-2EBF08317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8D88B6-6F1E-1684-69E7-6059C7D9D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B93D9-3CFE-45F9-B76F-2FB8E8702116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E47DCB-66C0-65A2-D44E-90FE22460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F56092-7B65-7467-41BD-03D41CFA1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03EEA-B38B-4C05-B186-7F8652767D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6620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CE9476-746D-D359-B308-B13950FA4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B93D9-3CFE-45F9-B76F-2FB8E8702116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E140AD-A25F-D8C5-5FD6-905D64071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5A88CF-5DF2-EE38-1B18-492E2E575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03EEA-B38B-4C05-B186-7F8652767D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3571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27148-CADE-2218-611A-450436EB8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E727A-DA41-6DB4-3D1C-79C6769065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4C9646-BECA-6A17-00D2-75F394B4ED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48E4AF-4ED1-E625-4910-40D73F9A6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B93D9-3CFE-45F9-B76F-2FB8E8702116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041043-B122-D1FB-97B7-B31380C32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F0F3C9-828E-B712-22D0-07A5134E1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03EEA-B38B-4C05-B186-7F8652767D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2466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4BEB6-1A2D-1D87-293C-F59728EDE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80752A-6CED-CA9D-4BE3-D15B11932F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787073-FDFD-8579-BD4E-0CA146F53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1778D8-65E2-D642-79EB-9BA29E27A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B93D9-3CFE-45F9-B76F-2FB8E8702116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D6BDD9-1397-EB08-7DE8-19B0AF0AA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9E3124-99E1-6CC4-968B-5B3C22A5E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03EEA-B38B-4C05-B186-7F8652767D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4275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3DC5A-5DEF-88B4-2D45-13B31F2F3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05796D-6A35-EEC0-9DC2-868E1A98B3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EF7EC-006F-4D56-BCAE-9E2B91135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B93D9-3CFE-45F9-B76F-2FB8E8702116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80D67-38CC-6C0D-B6DB-023EFA5B0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5E8C6-E52E-4614-92EB-D577EB62B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03EEA-B38B-4C05-B186-7F8652767D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4593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639769-7694-B8E3-EBCD-5B872A303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ABF66D-D36D-702C-1A17-F3665C2007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E337D-7743-D497-ACAE-049B6B9B3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B93D9-3CFE-45F9-B76F-2FB8E8702116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3542B-8ED6-3BA4-7643-A9FCB8F67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358AE-2C1C-705D-5D88-FB59F736E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03EEA-B38B-4C05-B186-7F8652767D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2376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254C1E-27F7-4A2F-C08C-C3F8D691B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7C1C24-E97F-C87B-0DAC-5701D9DF1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DB04F9-3758-C131-29E2-3A32BDE138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8B93D9-3CFE-45F9-B76F-2FB8E8702116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C9668-6432-B51D-EFBC-05EC7743A8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3BE54-D9AE-4823-9554-46A6A3D023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703EEA-B38B-4C05-B186-7F8652767D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6471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58DDC-014B-9AF8-84AB-1E9B8560EB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142999"/>
          </a:xfrm>
          <a:solidFill>
            <a:srgbClr val="0C831F"/>
          </a:solidFill>
        </p:spPr>
        <p:txBody>
          <a:bodyPr>
            <a:normAutofit/>
          </a:bodyPr>
          <a:lstStyle/>
          <a:p>
            <a:br>
              <a:rPr lang="en-IN" sz="1600" dirty="0"/>
            </a:br>
            <a:endParaRPr lang="en-IN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9036E3-3E89-93B7-324B-368208CDFB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1143000"/>
            <a:ext cx="12192001" cy="5815012"/>
          </a:xfrm>
          <a:solidFill>
            <a:srgbClr val="F3EC5F"/>
          </a:solidFill>
        </p:spPr>
        <p:txBody>
          <a:bodyPr/>
          <a:lstStyle/>
          <a:p>
            <a:endParaRPr lang="en-IN" dirty="0"/>
          </a:p>
          <a:p>
            <a:pPr lvl="5" algn="l"/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BLINKIT DATA ANALYSIS PROJECT</a:t>
            </a:r>
            <a:endParaRPr lang="en-IN" sz="28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E74F9F0-8E7B-D3D3-B15C-A50A2911D4C1}"/>
              </a:ext>
            </a:extLst>
          </p:cNvPr>
          <p:cNvSpPr/>
          <p:nvPr/>
        </p:nvSpPr>
        <p:spPr>
          <a:xfrm>
            <a:off x="157165" y="57150"/>
            <a:ext cx="2343150" cy="1000125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blink</a:t>
            </a:r>
            <a:r>
              <a:rPr lang="en-US" sz="5400" dirty="0">
                <a:solidFill>
                  <a:srgbClr val="0C831F"/>
                </a:solidFill>
              </a:rPr>
              <a:t>it</a:t>
            </a:r>
            <a:endParaRPr lang="en-IN" sz="5400" dirty="0">
              <a:solidFill>
                <a:srgbClr val="0C831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25555F-AC38-3387-443E-9B2ED930EC95}"/>
              </a:ext>
            </a:extLst>
          </p:cNvPr>
          <p:cNvSpPr/>
          <p:nvPr/>
        </p:nvSpPr>
        <p:spPr>
          <a:xfrm>
            <a:off x="314325" y="4986338"/>
            <a:ext cx="4857750" cy="1643062"/>
          </a:xfrm>
          <a:prstGeom prst="rect">
            <a:avLst/>
          </a:prstGeom>
          <a:solidFill>
            <a:srgbClr val="F3EC5F"/>
          </a:solidFill>
          <a:ln>
            <a:solidFill>
              <a:srgbClr val="F3EC5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/>
              <a:t>								</a:t>
            </a:r>
          </a:p>
          <a:p>
            <a:r>
              <a:rPr lang="en-IN" dirty="0"/>
              <a:t>Presented by: Ritesh Kumar </a:t>
            </a:r>
          </a:p>
          <a:p>
            <a:r>
              <a:rPr lang="en-IN" dirty="0"/>
              <a:t>Date</a:t>
            </a:r>
            <a:r>
              <a:rPr lang="en-IN" dirty="0">
                <a:sym typeface="Wingdings" panose="05000000000000000000" pitchFamily="2" charset="2"/>
              </a:rPr>
              <a:t>: 01-09-2025</a:t>
            </a:r>
            <a:endParaRPr lang="en-IN" dirty="0"/>
          </a:p>
          <a:p>
            <a:endParaRPr lang="en-IN" dirty="0"/>
          </a:p>
          <a:p>
            <a:pPr algn="ctr"/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F2387EA-CCFF-7E0D-5CAD-A9D3D63DAC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927" y="2220118"/>
            <a:ext cx="3660775" cy="366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560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4BE16-C1AF-4616-6181-26FA81C15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4FE7F-D61A-A98F-BC68-F85D76AEC3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142999"/>
          </a:xfrm>
          <a:solidFill>
            <a:srgbClr val="0C831F"/>
          </a:solidFill>
        </p:spPr>
        <p:txBody>
          <a:bodyPr anchor="b" anchorCtr="1">
            <a:normAutofit/>
          </a:bodyPr>
          <a:lstStyle/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PROJECT OVERVIEW</a:t>
            </a:r>
            <a:br>
              <a:rPr lang="en-IN" sz="1600" dirty="0"/>
            </a:br>
            <a:br>
              <a:rPr lang="en-IN" sz="1600" dirty="0"/>
            </a:br>
            <a:endParaRPr lang="en-IN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F81CAA-570F-6DCB-BD60-DF16CF4969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1143000"/>
            <a:ext cx="12192001" cy="5815012"/>
          </a:xfrm>
          <a:solidFill>
            <a:srgbClr val="F3EC5F"/>
          </a:solidFill>
        </p:spPr>
        <p:txBody>
          <a:bodyPr>
            <a:norm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sz="2450" dirty="0"/>
              <a:t> Comprehensive analysis of </a:t>
            </a:r>
            <a:r>
              <a:rPr lang="en-IN" sz="2450" dirty="0" err="1"/>
              <a:t>Blinkit's</a:t>
            </a:r>
            <a:r>
              <a:rPr lang="en-IN" sz="2450" dirty="0"/>
              <a:t> operational data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sz="2450" dirty="0"/>
              <a:t> SQL-powered business intelligence solution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sz="2450" dirty="0"/>
              <a:t> Data from multiple domains: customers, orders, products, delivery, marketing</a:t>
            </a:r>
          </a:p>
          <a:p>
            <a:pPr algn="l"/>
            <a:endParaRPr lang="en-IN" sz="2450" dirty="0"/>
          </a:p>
          <a:p>
            <a:pPr algn="l"/>
            <a:r>
              <a:rPr lang="en-IN" sz="2450" dirty="0"/>
              <a:t>KEY OBJECTIVES</a:t>
            </a:r>
          </a:p>
          <a:p>
            <a:pPr algn="l"/>
            <a:r>
              <a:rPr lang="en-IN" sz="2450" dirty="0"/>
              <a:t>	</a:t>
            </a:r>
          </a:p>
          <a:p>
            <a:pPr algn="l"/>
            <a:r>
              <a:rPr lang="en-IN" sz="2450" dirty="0"/>
              <a:t>	 Customer behaviour analysis</a:t>
            </a:r>
          </a:p>
          <a:p>
            <a:pPr algn="l"/>
            <a:r>
              <a:rPr lang="en-IN" sz="2450" dirty="0"/>
              <a:t>								Revenue optimization insights  </a:t>
            </a:r>
          </a:p>
          <a:p>
            <a:pPr algn="l"/>
            <a:r>
              <a:rPr lang="en-IN" sz="2450" dirty="0"/>
              <a:t>	Operational efficiency assessment</a:t>
            </a:r>
          </a:p>
          <a:p>
            <a:pPr algn="l"/>
            <a:r>
              <a:rPr lang="en-IN" sz="2450" dirty="0"/>
              <a:t>								Customer satisfaction analysis</a:t>
            </a:r>
          </a:p>
          <a:p>
            <a:pPr algn="l"/>
            <a:r>
              <a:rPr lang="en-IN" sz="2450" dirty="0"/>
              <a:t> 	 Marketing campaign performance						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7418188-4E01-F259-6ACF-19C4B184E4D4}"/>
              </a:ext>
            </a:extLst>
          </p:cNvPr>
          <p:cNvSpPr/>
          <p:nvPr/>
        </p:nvSpPr>
        <p:spPr>
          <a:xfrm>
            <a:off x="157165" y="57150"/>
            <a:ext cx="2343150" cy="1000125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blink</a:t>
            </a:r>
            <a:r>
              <a:rPr lang="en-US" sz="5400" dirty="0">
                <a:solidFill>
                  <a:srgbClr val="0C831F"/>
                </a:solidFill>
              </a:rPr>
              <a:t>it</a:t>
            </a:r>
            <a:endParaRPr lang="en-IN" sz="5400" dirty="0">
              <a:solidFill>
                <a:srgbClr val="0C831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A9798F-D5D1-B4D0-B2F4-F1751A4ACB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86" y="3872571"/>
            <a:ext cx="529499" cy="5294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BEBB7F-354D-22EE-3CF3-E3C08232E9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9732" y="4318405"/>
            <a:ext cx="671854" cy="63851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03C0110-A4D2-9C5B-E8AE-7B6E866311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70" y="4592993"/>
            <a:ext cx="824943" cy="82494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DA72B2F-488E-8DD4-C8D9-C4CCC72A98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125" y="5613200"/>
            <a:ext cx="743291" cy="74329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A9BFCED-4209-72BA-099C-8488417B5C4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2754" y="5175730"/>
            <a:ext cx="609604" cy="609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712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CAF98-BCE9-84CE-8CFB-B669ACD00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0CCB5-AC8B-5D0D-04FB-CFF52F1EE0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142999"/>
          </a:xfrm>
          <a:solidFill>
            <a:srgbClr val="0C831F"/>
          </a:solidFill>
        </p:spPr>
        <p:txBody>
          <a:bodyPr>
            <a:normAutofit/>
          </a:bodyPr>
          <a:lstStyle/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DATABASE ARCHITECTURE</a:t>
            </a:r>
            <a:br>
              <a:rPr lang="en-IN" sz="1600" dirty="0"/>
            </a:br>
            <a:br>
              <a:rPr lang="en-IN" sz="1600" dirty="0"/>
            </a:br>
            <a:endParaRPr lang="en-IN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4A0D46-1246-3AF7-E0CE-E708B4699C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1143000"/>
            <a:ext cx="12192001" cy="5815012"/>
          </a:xfrm>
          <a:solidFill>
            <a:srgbClr val="F3EC5F"/>
          </a:solidFill>
        </p:spPr>
        <p:txBody>
          <a:bodyPr>
            <a:normAutofit/>
          </a:bodyPr>
          <a:lstStyle/>
          <a:p>
            <a:pPr algn="l"/>
            <a:endParaRPr lang="en-IN" dirty="0"/>
          </a:p>
          <a:p>
            <a:pPr algn="l"/>
            <a:r>
              <a:rPr lang="en-IN" dirty="0"/>
              <a:t>            CUSTOMER 	                     	       ORDERS                                            ITEMS 	</a:t>
            </a:r>
          </a:p>
          <a:p>
            <a:pPr algn="l"/>
            <a:endParaRPr lang="en-IN" dirty="0"/>
          </a:p>
          <a:p>
            <a:pPr algn="l"/>
            <a:r>
              <a:rPr lang="en-IN" dirty="0"/>
              <a:t>	 		           →                                                           →   	            	                     	  	                       																																																			   ↘  FEEDBACK  		 PERFORMANCE	                       ↘    PRODUCT</a:t>
            </a:r>
          </a:p>
          <a:p>
            <a:pPr algn="l"/>
            <a:endParaRPr lang="en-IN" dirty="0"/>
          </a:p>
          <a:p>
            <a:pPr algn="l"/>
            <a:r>
              <a:rPr lang="en-IN" dirty="0"/>
              <a:t>			            →</a:t>
            </a:r>
          </a:p>
          <a:p>
            <a:pPr algn="l"/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2721FD7-EB88-33A5-BEC2-6B55A82AF465}"/>
              </a:ext>
            </a:extLst>
          </p:cNvPr>
          <p:cNvSpPr/>
          <p:nvPr/>
        </p:nvSpPr>
        <p:spPr>
          <a:xfrm>
            <a:off x="157165" y="57150"/>
            <a:ext cx="2343150" cy="1000125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blink</a:t>
            </a:r>
            <a:r>
              <a:rPr lang="en-US" sz="5400" dirty="0">
                <a:solidFill>
                  <a:srgbClr val="0C831F"/>
                </a:solidFill>
              </a:rPr>
              <a:t>it</a:t>
            </a:r>
            <a:endParaRPr lang="en-IN" sz="5400" dirty="0">
              <a:solidFill>
                <a:srgbClr val="0C831F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A0217F-0DB0-4450-6432-1F138F5FEC44}"/>
              </a:ext>
            </a:extLst>
          </p:cNvPr>
          <p:cNvSpPr/>
          <p:nvPr/>
        </p:nvSpPr>
        <p:spPr>
          <a:xfrm>
            <a:off x="157165" y="1971673"/>
            <a:ext cx="3395662" cy="211455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100" dirty="0">
                <a:solidFill>
                  <a:schemeClr val="tx1"/>
                </a:solidFill>
              </a:rPr>
              <a:t>CREATE TABLE customer (</a:t>
            </a:r>
          </a:p>
          <a:p>
            <a:r>
              <a:rPr lang="en-IN" sz="1100" dirty="0">
                <a:solidFill>
                  <a:schemeClr val="tx1"/>
                </a:solidFill>
              </a:rPr>
              <a:t>	 </a:t>
            </a:r>
            <a:r>
              <a:rPr lang="en-IN" sz="1100" dirty="0" err="1">
                <a:solidFill>
                  <a:schemeClr val="tx1"/>
                </a:solidFill>
              </a:rPr>
              <a:t>customer_id</a:t>
            </a:r>
            <a:r>
              <a:rPr lang="en-IN" sz="1100" dirty="0">
                <a:solidFill>
                  <a:schemeClr val="tx1"/>
                </a:solidFill>
              </a:rPr>
              <a:t> INT PRIMARYKEY, </a:t>
            </a:r>
          </a:p>
          <a:p>
            <a:r>
              <a:rPr lang="en-IN" sz="1100" dirty="0">
                <a:solidFill>
                  <a:schemeClr val="tx1"/>
                </a:solidFill>
              </a:rPr>
              <a:t>    	 </a:t>
            </a:r>
            <a:r>
              <a:rPr lang="en-IN" sz="1100" dirty="0" err="1">
                <a:solidFill>
                  <a:schemeClr val="tx1"/>
                </a:solidFill>
              </a:rPr>
              <a:t>customer_name</a:t>
            </a:r>
            <a:r>
              <a:rPr lang="en-IN" sz="1100" dirty="0">
                <a:solidFill>
                  <a:schemeClr val="tx1"/>
                </a:solidFill>
              </a:rPr>
              <a:t> VARCHAR(100),   </a:t>
            </a:r>
          </a:p>
          <a:p>
            <a:r>
              <a:rPr lang="en-IN" sz="1100" dirty="0">
                <a:solidFill>
                  <a:schemeClr val="tx1"/>
                </a:solidFill>
              </a:rPr>
              <a:t>	 email VARCHAR(100),   </a:t>
            </a:r>
          </a:p>
          <a:p>
            <a:r>
              <a:rPr lang="en-IN" sz="1100" dirty="0">
                <a:solidFill>
                  <a:schemeClr val="tx1"/>
                </a:solidFill>
              </a:rPr>
              <a:t>	 phone VARCHAR(20),  </a:t>
            </a:r>
          </a:p>
          <a:p>
            <a:r>
              <a:rPr lang="en-IN" sz="1100" dirty="0">
                <a:solidFill>
                  <a:schemeClr val="tx1"/>
                </a:solidFill>
              </a:rPr>
              <a:t>                              address TEXT,    </a:t>
            </a:r>
          </a:p>
          <a:p>
            <a:r>
              <a:rPr lang="en-IN" sz="1100" dirty="0">
                <a:solidFill>
                  <a:schemeClr val="tx1"/>
                </a:solidFill>
              </a:rPr>
              <a:t>	 area VARCHAR(100),    </a:t>
            </a:r>
          </a:p>
          <a:p>
            <a:r>
              <a:rPr lang="en-IN" sz="1100" dirty="0">
                <a:solidFill>
                  <a:schemeClr val="tx1"/>
                </a:solidFill>
              </a:rPr>
              <a:t>	 </a:t>
            </a:r>
            <a:r>
              <a:rPr lang="en-IN" sz="1100" dirty="0" err="1">
                <a:solidFill>
                  <a:schemeClr val="tx1"/>
                </a:solidFill>
              </a:rPr>
              <a:t>pincode</a:t>
            </a:r>
            <a:r>
              <a:rPr lang="en-IN" sz="1100" dirty="0">
                <a:solidFill>
                  <a:schemeClr val="tx1"/>
                </a:solidFill>
              </a:rPr>
              <a:t> INT,    </a:t>
            </a:r>
          </a:p>
          <a:p>
            <a:r>
              <a:rPr lang="en-IN" sz="1100" dirty="0">
                <a:solidFill>
                  <a:schemeClr val="tx1"/>
                </a:solidFill>
              </a:rPr>
              <a:t>	 </a:t>
            </a:r>
            <a:r>
              <a:rPr lang="en-IN" sz="1100" dirty="0" err="1">
                <a:solidFill>
                  <a:schemeClr val="tx1"/>
                </a:solidFill>
              </a:rPr>
              <a:t>registration_date</a:t>
            </a:r>
            <a:r>
              <a:rPr lang="en-IN" sz="1100" dirty="0">
                <a:solidFill>
                  <a:schemeClr val="tx1"/>
                </a:solidFill>
              </a:rPr>
              <a:t> DATE,   </a:t>
            </a:r>
          </a:p>
          <a:p>
            <a:r>
              <a:rPr lang="en-IN" sz="1100" dirty="0">
                <a:solidFill>
                  <a:schemeClr val="tx1"/>
                </a:solidFill>
              </a:rPr>
              <a:t>	 </a:t>
            </a:r>
            <a:r>
              <a:rPr lang="en-IN" sz="1100" dirty="0" err="1">
                <a:solidFill>
                  <a:schemeClr val="tx1"/>
                </a:solidFill>
              </a:rPr>
              <a:t>customer_segment</a:t>
            </a:r>
            <a:r>
              <a:rPr lang="en-IN" sz="1100" dirty="0">
                <a:solidFill>
                  <a:schemeClr val="tx1"/>
                </a:solidFill>
              </a:rPr>
              <a:t> VARCHAR(50),    </a:t>
            </a:r>
          </a:p>
          <a:p>
            <a:r>
              <a:rPr lang="en-IN" sz="1100" dirty="0">
                <a:solidFill>
                  <a:schemeClr val="tx1"/>
                </a:solidFill>
              </a:rPr>
              <a:t>	  </a:t>
            </a:r>
            <a:r>
              <a:rPr lang="en-IN" sz="1100" dirty="0" err="1">
                <a:solidFill>
                  <a:schemeClr val="tx1"/>
                </a:solidFill>
              </a:rPr>
              <a:t>total_orders</a:t>
            </a:r>
            <a:r>
              <a:rPr lang="en-IN" sz="1100" dirty="0">
                <a:solidFill>
                  <a:schemeClr val="tx1"/>
                </a:solidFill>
              </a:rPr>
              <a:t> INT,    </a:t>
            </a:r>
          </a:p>
          <a:p>
            <a:r>
              <a:rPr lang="en-IN" sz="1100" dirty="0">
                <a:solidFill>
                  <a:schemeClr val="tx1"/>
                </a:solidFill>
              </a:rPr>
              <a:t>	  </a:t>
            </a:r>
            <a:r>
              <a:rPr lang="en-IN" sz="1100" dirty="0" err="1">
                <a:solidFill>
                  <a:schemeClr val="tx1"/>
                </a:solidFill>
              </a:rPr>
              <a:t>avg_order_value</a:t>
            </a:r>
            <a:r>
              <a:rPr lang="en-IN" sz="1100" dirty="0">
                <a:solidFill>
                  <a:schemeClr val="tx1"/>
                </a:solidFill>
              </a:rPr>
              <a:t> DECIMAL(10,2));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086BFA-2D19-D16F-3D26-1F25028AE44F}"/>
              </a:ext>
            </a:extLst>
          </p:cNvPr>
          <p:cNvSpPr/>
          <p:nvPr/>
        </p:nvSpPr>
        <p:spPr>
          <a:xfrm>
            <a:off x="4071936" y="2014536"/>
            <a:ext cx="3671891" cy="211455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100" dirty="0"/>
              <a:t>CREATE TABLE orders (    </a:t>
            </a:r>
          </a:p>
          <a:p>
            <a:r>
              <a:rPr lang="en-IN" sz="1100" dirty="0"/>
              <a:t>	</a:t>
            </a:r>
            <a:r>
              <a:rPr lang="en-IN" sz="1100" dirty="0" err="1"/>
              <a:t>order_id</a:t>
            </a:r>
            <a:r>
              <a:rPr lang="en-IN" sz="1100" dirty="0"/>
              <a:t> BIGINT PRIMARY KEY,  </a:t>
            </a:r>
          </a:p>
          <a:p>
            <a:r>
              <a:rPr lang="en-IN" sz="1100" dirty="0"/>
              <a:t>  	customer_id INT,  </a:t>
            </a:r>
          </a:p>
          <a:p>
            <a:r>
              <a:rPr lang="en-IN" sz="1100" dirty="0"/>
              <a:t>  	</a:t>
            </a:r>
            <a:r>
              <a:rPr lang="en-IN" sz="1100" dirty="0" err="1"/>
              <a:t>order_date</a:t>
            </a:r>
            <a:r>
              <a:rPr lang="en-IN" sz="1100" dirty="0"/>
              <a:t> DATETIME,    </a:t>
            </a:r>
          </a:p>
          <a:p>
            <a:r>
              <a:rPr lang="en-IN" sz="1100" dirty="0"/>
              <a:t>	</a:t>
            </a:r>
            <a:r>
              <a:rPr lang="en-IN" sz="1100" dirty="0" err="1"/>
              <a:t>promised_delivery_time</a:t>
            </a:r>
            <a:r>
              <a:rPr lang="en-IN" sz="1100" dirty="0"/>
              <a:t> DATETIME, </a:t>
            </a:r>
          </a:p>
          <a:p>
            <a:r>
              <a:rPr lang="en-IN" sz="1100" dirty="0"/>
              <a:t>	</a:t>
            </a:r>
            <a:r>
              <a:rPr lang="en-IN" sz="1100" dirty="0" err="1"/>
              <a:t>actual_delivery_time</a:t>
            </a:r>
            <a:r>
              <a:rPr lang="en-IN" sz="1100" dirty="0"/>
              <a:t> DATETIME,  </a:t>
            </a:r>
          </a:p>
          <a:p>
            <a:r>
              <a:rPr lang="en-IN" sz="1100" dirty="0"/>
              <a:t>	</a:t>
            </a:r>
            <a:r>
              <a:rPr lang="en-IN" sz="1100" dirty="0" err="1"/>
              <a:t>delivery_status</a:t>
            </a:r>
            <a:r>
              <a:rPr lang="en-IN" sz="1100" dirty="0"/>
              <a:t> VARCHAR(50),    </a:t>
            </a:r>
          </a:p>
          <a:p>
            <a:r>
              <a:rPr lang="en-IN" sz="1100" dirty="0"/>
              <a:t>	</a:t>
            </a:r>
            <a:r>
              <a:rPr lang="en-IN" sz="1100" dirty="0" err="1"/>
              <a:t>order_total</a:t>
            </a:r>
            <a:r>
              <a:rPr lang="en-IN" sz="1100" dirty="0"/>
              <a:t> DECIMAL(10,2),    </a:t>
            </a:r>
          </a:p>
          <a:p>
            <a:r>
              <a:rPr lang="en-IN" sz="1100" dirty="0"/>
              <a:t>	</a:t>
            </a:r>
            <a:r>
              <a:rPr lang="en-IN" sz="1100" dirty="0" err="1"/>
              <a:t>payment_method</a:t>
            </a:r>
            <a:r>
              <a:rPr lang="en-IN" sz="1100" dirty="0"/>
              <a:t> VARCHAR(50),    </a:t>
            </a:r>
          </a:p>
          <a:p>
            <a:r>
              <a:rPr lang="en-IN" sz="1100" dirty="0"/>
              <a:t>	</a:t>
            </a:r>
            <a:r>
              <a:rPr lang="en-IN" sz="1100" dirty="0" err="1"/>
              <a:t>delivery_partner_id</a:t>
            </a:r>
            <a:r>
              <a:rPr lang="en-IN" sz="1100" dirty="0"/>
              <a:t> INT,    </a:t>
            </a:r>
            <a:r>
              <a:rPr lang="en-IN" sz="1100" dirty="0" err="1"/>
              <a:t>store_id</a:t>
            </a:r>
            <a:r>
              <a:rPr lang="en-IN" sz="1100" dirty="0"/>
              <a:t> INT,   </a:t>
            </a:r>
          </a:p>
          <a:p>
            <a:r>
              <a:rPr lang="en-IN" sz="1100" dirty="0"/>
              <a:t>	 FOREIGN KEY (customer_id) </a:t>
            </a:r>
          </a:p>
          <a:p>
            <a:r>
              <a:rPr lang="en-IN" sz="1100" dirty="0"/>
              <a:t>	REFERENCES </a:t>
            </a:r>
            <a:r>
              <a:rPr lang="en-IN" sz="1100" dirty="0" err="1"/>
              <a:t>blinkit_cust</a:t>
            </a:r>
            <a:r>
              <a:rPr lang="en-IN" sz="1100" dirty="0"/>
              <a:t>(customer_id));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C1E5BF-3882-4B7F-8B00-B8C6DBC3FB69}"/>
              </a:ext>
            </a:extLst>
          </p:cNvPr>
          <p:cNvSpPr/>
          <p:nvPr/>
        </p:nvSpPr>
        <p:spPr>
          <a:xfrm>
            <a:off x="8201025" y="2014537"/>
            <a:ext cx="3471866" cy="21145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CREATE TABLE items (                                                                                     	</a:t>
            </a:r>
            <a:r>
              <a:rPr lang="en-US" sz="1100" dirty="0" err="1"/>
              <a:t>order_id</a:t>
            </a:r>
            <a:r>
              <a:rPr lang="en-US" sz="1100" dirty="0"/>
              <a:t> BIGINT,   </a:t>
            </a:r>
          </a:p>
          <a:p>
            <a:r>
              <a:rPr lang="en-US" sz="1100" dirty="0"/>
              <a:t>	 </a:t>
            </a:r>
            <a:r>
              <a:rPr lang="en-US" sz="1100" dirty="0" err="1"/>
              <a:t>product_id</a:t>
            </a:r>
            <a:r>
              <a:rPr lang="en-US" sz="1100" dirty="0"/>
              <a:t> INT,   </a:t>
            </a:r>
          </a:p>
          <a:p>
            <a:r>
              <a:rPr lang="en-US" sz="1100" dirty="0"/>
              <a:t>	 quantity INT,    </a:t>
            </a:r>
          </a:p>
          <a:p>
            <a:r>
              <a:rPr lang="en-US" sz="1100" dirty="0"/>
              <a:t>	 </a:t>
            </a:r>
            <a:r>
              <a:rPr lang="en-US" sz="1100" dirty="0" err="1"/>
              <a:t>unit_price</a:t>
            </a:r>
            <a:r>
              <a:rPr lang="en-US" sz="1100" dirty="0"/>
              <a:t> DECIMAL(10,2), </a:t>
            </a:r>
          </a:p>
          <a:p>
            <a:r>
              <a:rPr lang="en-US" sz="1100" dirty="0"/>
              <a:t>                               PRIMARY KEY (</a:t>
            </a:r>
            <a:r>
              <a:rPr lang="en-US" sz="1100" dirty="0" err="1"/>
              <a:t>order_id</a:t>
            </a:r>
            <a:r>
              <a:rPr lang="en-US" sz="1100" dirty="0"/>
              <a:t>, </a:t>
            </a:r>
            <a:r>
              <a:rPr lang="en-US" sz="1100" dirty="0" err="1"/>
              <a:t>product_id</a:t>
            </a:r>
            <a:r>
              <a:rPr lang="en-US" sz="1100" dirty="0"/>
              <a:t>),     	 FOREIGN KEY (</a:t>
            </a:r>
            <a:r>
              <a:rPr lang="en-US" sz="1100" dirty="0" err="1"/>
              <a:t>order_id</a:t>
            </a:r>
            <a:r>
              <a:rPr lang="en-US" sz="1100" dirty="0"/>
              <a:t>) REFERENCES 	 </a:t>
            </a:r>
            <a:r>
              <a:rPr lang="en-US" sz="1100" dirty="0" err="1"/>
              <a:t>blinkit_orders</a:t>
            </a:r>
            <a:r>
              <a:rPr lang="en-US" sz="1100" dirty="0"/>
              <a:t>(</a:t>
            </a:r>
            <a:r>
              <a:rPr lang="en-US" sz="1100" dirty="0" err="1"/>
              <a:t>order_id</a:t>
            </a:r>
            <a:r>
              <a:rPr lang="en-US" sz="1100" dirty="0"/>
              <a:t>),    </a:t>
            </a:r>
          </a:p>
          <a:p>
            <a:r>
              <a:rPr lang="en-US" sz="1100" dirty="0"/>
              <a:t>	 FOREIGN KEY (</a:t>
            </a:r>
            <a:r>
              <a:rPr lang="en-US" sz="1100" dirty="0" err="1"/>
              <a:t>product_id</a:t>
            </a:r>
            <a:r>
              <a:rPr lang="en-US" sz="1100" dirty="0"/>
              <a:t>) REFERENCES 	  </a:t>
            </a:r>
            <a:r>
              <a:rPr lang="en-US" sz="1100" dirty="0" err="1"/>
              <a:t>blinkit_products</a:t>
            </a:r>
            <a:r>
              <a:rPr lang="en-US" sz="1100" dirty="0"/>
              <a:t>(</a:t>
            </a:r>
            <a:r>
              <a:rPr lang="en-US" sz="1100" dirty="0" err="1"/>
              <a:t>product_id</a:t>
            </a:r>
            <a:r>
              <a:rPr lang="en-US" sz="1100" dirty="0"/>
              <a:t>));</a:t>
            </a:r>
            <a:endParaRPr lang="en-IN" sz="11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268D29-1ACF-2C85-D5D6-3430C1DBAC90}"/>
              </a:ext>
            </a:extLst>
          </p:cNvPr>
          <p:cNvSpPr/>
          <p:nvPr/>
        </p:nvSpPr>
        <p:spPr>
          <a:xfrm>
            <a:off x="8201026" y="4500561"/>
            <a:ext cx="3471866" cy="232886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100" dirty="0"/>
              <a:t>CREATE TABLE product (   			 </a:t>
            </a:r>
            <a:r>
              <a:rPr lang="en-IN" sz="1100" dirty="0" err="1"/>
              <a:t>product_id</a:t>
            </a:r>
            <a:r>
              <a:rPr lang="en-IN" sz="1100" dirty="0"/>
              <a:t> INT PRIMARY KEY,    	 </a:t>
            </a:r>
            <a:r>
              <a:rPr lang="en-IN" sz="1100" dirty="0" err="1"/>
              <a:t>product_name</a:t>
            </a:r>
            <a:r>
              <a:rPr lang="en-IN" sz="1100" dirty="0"/>
              <a:t> VARCHAR(100),    	 category VARCHAR(100),    		 brand VARCHAR(100), </a:t>
            </a:r>
          </a:p>
          <a:p>
            <a:r>
              <a:rPr lang="en-IN" sz="1100" dirty="0"/>
              <a:t>	 price DECIMAL(10,2), 		 </a:t>
            </a:r>
            <a:r>
              <a:rPr lang="en-IN" sz="1100" dirty="0" err="1"/>
              <a:t>mrp</a:t>
            </a:r>
            <a:r>
              <a:rPr lang="en-IN" sz="1100" dirty="0"/>
              <a:t> DECIMAL(10,2),    	 	 </a:t>
            </a:r>
            <a:r>
              <a:rPr lang="en-IN" sz="1100" dirty="0" err="1"/>
              <a:t>margin_percentage</a:t>
            </a:r>
            <a:r>
              <a:rPr lang="en-IN" sz="1100" dirty="0"/>
              <a:t> DECIMAL(5,2),    	</a:t>
            </a:r>
            <a:r>
              <a:rPr lang="en-IN" sz="1100" dirty="0" err="1"/>
              <a:t>shelf_life_days</a:t>
            </a:r>
            <a:r>
              <a:rPr lang="en-IN" sz="1100" dirty="0"/>
              <a:t> INT,   		 </a:t>
            </a:r>
            <a:r>
              <a:rPr lang="en-IN" sz="1100" dirty="0" err="1"/>
              <a:t>min_stock_level</a:t>
            </a:r>
            <a:r>
              <a:rPr lang="en-IN" sz="1100" dirty="0"/>
              <a:t> INT,   		 </a:t>
            </a:r>
            <a:r>
              <a:rPr lang="en-IN" sz="1100" dirty="0" err="1"/>
              <a:t>max_stock_level</a:t>
            </a:r>
            <a:r>
              <a:rPr lang="en-IN" sz="1100" dirty="0"/>
              <a:t> INT);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1DCC03-05E0-650E-8618-3E95BCD9165B}"/>
              </a:ext>
            </a:extLst>
          </p:cNvPr>
          <p:cNvSpPr/>
          <p:nvPr/>
        </p:nvSpPr>
        <p:spPr>
          <a:xfrm>
            <a:off x="157165" y="4514850"/>
            <a:ext cx="3457572" cy="232886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100" dirty="0"/>
              <a:t>CREATE TABLE feedback (  </a:t>
            </a:r>
          </a:p>
          <a:p>
            <a:r>
              <a:rPr lang="en-IN" sz="1100" dirty="0"/>
              <a:t>	  </a:t>
            </a:r>
            <a:r>
              <a:rPr lang="en-IN" sz="1100" dirty="0" err="1"/>
              <a:t>feedback_id</a:t>
            </a:r>
            <a:r>
              <a:rPr lang="en-IN" sz="1100" dirty="0"/>
              <a:t> INT PRIMARY KEY,    	  </a:t>
            </a:r>
            <a:r>
              <a:rPr lang="en-IN" sz="1100" dirty="0" err="1"/>
              <a:t>order_id</a:t>
            </a:r>
            <a:r>
              <a:rPr lang="en-IN" sz="1100" dirty="0"/>
              <a:t> BIGINT,   	  	  customer_id INT,  		  rating INT,   			 </a:t>
            </a:r>
            <a:r>
              <a:rPr lang="en-IN" sz="1100" dirty="0" err="1"/>
              <a:t>feedback_text</a:t>
            </a:r>
            <a:r>
              <a:rPr lang="en-IN" sz="1100" dirty="0"/>
              <a:t> VARCHAR(255),    	 </a:t>
            </a:r>
            <a:r>
              <a:rPr lang="en-IN" sz="1100" dirty="0" err="1"/>
              <a:t>feedback_category</a:t>
            </a:r>
            <a:r>
              <a:rPr lang="en-IN" sz="1100" dirty="0"/>
              <a:t> VARCHAR(100),    	 sentiment VARCHAR(50),    	 	 </a:t>
            </a:r>
            <a:r>
              <a:rPr lang="en-IN" sz="1100" dirty="0" err="1"/>
              <a:t>feedback_date</a:t>
            </a:r>
            <a:r>
              <a:rPr lang="en-IN" sz="1100" dirty="0"/>
              <a:t> DATE,    </a:t>
            </a:r>
          </a:p>
          <a:p>
            <a:r>
              <a:rPr lang="en-IN" sz="1100" dirty="0"/>
              <a:t>	 FOREIGN KEY (</a:t>
            </a:r>
            <a:r>
              <a:rPr lang="en-IN" sz="1100" dirty="0" err="1"/>
              <a:t>order_id</a:t>
            </a:r>
            <a:r>
              <a:rPr lang="en-IN" sz="1100" dirty="0"/>
              <a:t>) REFERENCES 	 </a:t>
            </a:r>
            <a:r>
              <a:rPr lang="en-IN" sz="1100" dirty="0" err="1"/>
              <a:t>blinkit_orders</a:t>
            </a:r>
            <a:r>
              <a:rPr lang="en-IN" sz="1100" dirty="0"/>
              <a:t>(</a:t>
            </a:r>
            <a:r>
              <a:rPr lang="en-IN" sz="1100" dirty="0" err="1"/>
              <a:t>order_id</a:t>
            </a:r>
            <a:r>
              <a:rPr lang="en-IN" sz="1100" dirty="0"/>
              <a:t>),   </a:t>
            </a:r>
          </a:p>
          <a:p>
            <a:r>
              <a:rPr lang="en-IN" sz="1100" dirty="0"/>
              <a:t>	 FOREIGN KEY (customer_id) 	REFERENCES </a:t>
            </a:r>
            <a:r>
              <a:rPr lang="en-IN" sz="1100" dirty="0" err="1"/>
              <a:t>blinkit_cust</a:t>
            </a:r>
            <a:r>
              <a:rPr lang="en-IN" sz="1100" dirty="0"/>
              <a:t>(customer_id));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EB43D4-3826-E223-3124-866F1F8D82F8}"/>
              </a:ext>
            </a:extLst>
          </p:cNvPr>
          <p:cNvSpPr/>
          <p:nvPr/>
        </p:nvSpPr>
        <p:spPr>
          <a:xfrm>
            <a:off x="4071936" y="4514850"/>
            <a:ext cx="3671891" cy="232886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100" dirty="0"/>
              <a:t>CREATE TABLE performance (    			</a:t>
            </a:r>
            <a:r>
              <a:rPr lang="en-IN" sz="1100" dirty="0" err="1"/>
              <a:t>campaign_id</a:t>
            </a:r>
            <a:r>
              <a:rPr lang="en-IN" sz="1100" dirty="0"/>
              <a:t> INT PRIMARY KEY,    	</a:t>
            </a:r>
            <a:r>
              <a:rPr lang="en-IN" sz="1100" dirty="0" err="1"/>
              <a:t>campaign_name</a:t>
            </a:r>
            <a:r>
              <a:rPr lang="en-IN" sz="1100" dirty="0"/>
              <a:t> VARCHAR(100),   	date </a:t>
            </a:r>
            <a:r>
              <a:rPr lang="en-IN" sz="1100" dirty="0" err="1"/>
              <a:t>DATE</a:t>
            </a:r>
            <a:r>
              <a:rPr lang="en-IN" sz="1100" dirty="0"/>
              <a:t>,    		</a:t>
            </a:r>
            <a:r>
              <a:rPr lang="en-IN" sz="1100" dirty="0" err="1"/>
              <a:t>target_audience</a:t>
            </a:r>
            <a:r>
              <a:rPr lang="en-IN" sz="1100" dirty="0"/>
              <a:t> VARCHAR(50),    	channel VARCHAR(50),    		impressions INT,   		clicks INT,    			conversions INT,    		spend DECIMAL(10,2),   		</a:t>
            </a:r>
            <a:r>
              <a:rPr lang="en-IN" sz="1100" dirty="0" err="1"/>
              <a:t>revenue_generated</a:t>
            </a:r>
            <a:r>
              <a:rPr lang="en-IN" sz="1100" dirty="0"/>
              <a:t> DECIMAL(10,2),    	</a:t>
            </a:r>
            <a:r>
              <a:rPr lang="en-IN" sz="1100" dirty="0" err="1"/>
              <a:t>roas</a:t>
            </a:r>
            <a:r>
              <a:rPr lang="en-IN" sz="1100" dirty="0"/>
              <a:t> DECIMAL(5,2));</a:t>
            </a:r>
          </a:p>
        </p:txBody>
      </p:sp>
    </p:spTree>
    <p:extLst>
      <p:ext uri="{BB962C8B-B14F-4D97-AF65-F5344CB8AC3E}">
        <p14:creationId xmlns:p14="http://schemas.microsoft.com/office/powerpoint/2010/main" val="2568598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D40AE-7646-4E1C-91F3-C20F1D7A4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4D619-36AB-AAEE-B063-FD6B0BADC6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142999"/>
          </a:xfrm>
          <a:solidFill>
            <a:srgbClr val="0C831F"/>
          </a:solidFill>
        </p:spPr>
        <p:txBody>
          <a:bodyPr>
            <a:normAutofit/>
          </a:bodyPr>
          <a:lstStyle/>
          <a:p>
            <a:r>
              <a:rPr lang="en-IN" sz="2400" b="1" dirty="0"/>
              <a:t>CUSTOMER INSIGHTS</a:t>
            </a:r>
            <a:br>
              <a:rPr lang="en-IN" sz="2400" b="1" dirty="0"/>
            </a:br>
            <a:endParaRPr lang="en-IN" sz="24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4317D1-EBF0-CE3A-D459-4C98A48342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1128712"/>
            <a:ext cx="12192001" cy="5815012"/>
          </a:xfrm>
          <a:solidFill>
            <a:srgbClr val="F3EC5F"/>
          </a:solidFill>
        </p:spPr>
        <p:txBody>
          <a:bodyPr>
            <a:normAutofit/>
          </a:bodyPr>
          <a:lstStyle/>
          <a:p>
            <a:r>
              <a:rPr lang="en-IN" sz="2800" dirty="0"/>
              <a:t>TOP 5 AREAS BY CUSTOMER COUNT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IN" dirty="0"/>
              <a:t>Jalna 		18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IN" dirty="0" err="1"/>
              <a:t>Orai</a:t>
            </a:r>
            <a:r>
              <a:rPr lang="en-IN" dirty="0"/>
              <a:t> 		17	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IN" dirty="0"/>
              <a:t>Bathinda  		17	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IN" dirty="0"/>
              <a:t>Deoghar		17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IN" dirty="0"/>
              <a:t>Ratlam		16</a:t>
            </a:r>
          </a:p>
          <a:p>
            <a:r>
              <a:rPr lang="en-IN" sz="2800" dirty="0"/>
              <a:t>CUSTOMER SEGMENT DISTRIBUTION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dirty="0"/>
              <a:t>Premium - 26%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dirty="0"/>
              <a:t>Regular 	- 25%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dirty="0"/>
              <a:t>New 	- 25%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dirty="0"/>
              <a:t>Inactive	- 24%</a:t>
            </a:r>
          </a:p>
          <a:p>
            <a:pPr algn="l"/>
            <a:endParaRPr lang="en-IN" sz="28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843871A-9C8E-3955-40EB-208EDCCE57DF}"/>
              </a:ext>
            </a:extLst>
          </p:cNvPr>
          <p:cNvSpPr/>
          <p:nvPr/>
        </p:nvSpPr>
        <p:spPr>
          <a:xfrm>
            <a:off x="157165" y="57150"/>
            <a:ext cx="2343150" cy="1000125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blink</a:t>
            </a:r>
            <a:r>
              <a:rPr lang="en-US" sz="5400" dirty="0">
                <a:solidFill>
                  <a:srgbClr val="0C831F"/>
                </a:solidFill>
              </a:rPr>
              <a:t>it</a:t>
            </a:r>
            <a:endParaRPr lang="en-IN" sz="5400" dirty="0">
              <a:solidFill>
                <a:srgbClr val="0C831F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F765CAE-806D-625D-38B4-950EA83F00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8" y="1514474"/>
            <a:ext cx="3476627" cy="249316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24A88FC-1BEB-E287-AB04-95350C2A3D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8" y="4555285"/>
            <a:ext cx="3476627" cy="2176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859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903A8-2BE3-24AE-F54F-497A5884E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B1B9D-B819-6954-1D7C-50963764B1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142999"/>
          </a:xfrm>
          <a:solidFill>
            <a:srgbClr val="0C831F"/>
          </a:solidFill>
        </p:spPr>
        <p:txBody>
          <a:bodyPr>
            <a:normAutofit/>
          </a:bodyPr>
          <a:lstStyle/>
          <a:p>
            <a:r>
              <a:rPr lang="en-IN" sz="2800" b="1" dirty="0"/>
              <a:t>REVENUE ANALYSIS</a:t>
            </a:r>
            <a:br>
              <a:rPr lang="en-IN" sz="2800" b="1" dirty="0"/>
            </a:br>
            <a:endParaRPr lang="en-IN" sz="28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A28361-48DA-C7D6-9DBF-200ADAE071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1143000"/>
            <a:ext cx="12192001" cy="5815012"/>
          </a:xfrm>
          <a:solidFill>
            <a:srgbClr val="F3EC5F"/>
          </a:solidFill>
        </p:spPr>
        <p:txBody>
          <a:bodyPr>
            <a:normAutofit/>
          </a:bodyPr>
          <a:lstStyle/>
          <a:p>
            <a:pPr algn="l"/>
            <a:endParaRPr lang="en-IN" sz="2800" dirty="0"/>
          </a:p>
          <a:p>
            <a:pPr algn="l"/>
            <a:r>
              <a:rPr lang="en-IN" sz="2800" dirty="0"/>
              <a:t>REVENUE BY PAYMENT METHOD (₹)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dirty="0"/>
              <a:t>Crad   -₹ 2865557(26%)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dirty="0"/>
              <a:t>Cash    -₹ 2770463(25.2%)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dirty="0"/>
              <a:t>Wallet -₹2715004(24.7%)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dirty="0"/>
              <a:t>UPI      - ₹2658282(24.1%)</a:t>
            </a:r>
          </a:p>
          <a:p>
            <a:pPr algn="l"/>
            <a:r>
              <a:rPr lang="en-IN" sz="2800" dirty="0"/>
              <a:t>TOP 5 REVENUE GENERATING CATEGORIES</a:t>
            </a:r>
          </a:p>
          <a:p>
            <a:pPr marL="514350" indent="-514350" algn="l">
              <a:buAutoNum type="arabicPeriod"/>
            </a:pPr>
            <a:r>
              <a:rPr lang="en-IN" dirty="0"/>
              <a:t>Dairy &amp; Breakfast - ₹ 639222.19 </a:t>
            </a:r>
          </a:p>
          <a:p>
            <a:pPr marL="514350" indent="-514350" algn="l">
              <a:buAutoNum type="arabicPeriod"/>
            </a:pPr>
            <a:r>
              <a:rPr lang="en-IN" dirty="0"/>
              <a:t>Pharmacy - ₹ 592368.57 </a:t>
            </a:r>
          </a:p>
          <a:p>
            <a:pPr algn="l"/>
            <a:r>
              <a:rPr lang="en-IN" dirty="0"/>
              <a:t>3.    Fruits &amp; Vegetables - ₹ 559053.08 </a:t>
            </a:r>
          </a:p>
          <a:p>
            <a:pPr algn="l"/>
            <a:r>
              <a:rPr lang="en-IN" dirty="0"/>
              <a:t>4.    Pet Care - ₹ 539888.75 </a:t>
            </a:r>
          </a:p>
          <a:p>
            <a:pPr algn="l"/>
            <a:r>
              <a:rPr lang="en-IN" dirty="0"/>
              <a:t>5.    Household Essentials - ₹ 444244.25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E919BB4-28AF-E560-D40D-A9DD361442DC}"/>
              </a:ext>
            </a:extLst>
          </p:cNvPr>
          <p:cNvSpPr/>
          <p:nvPr/>
        </p:nvSpPr>
        <p:spPr>
          <a:xfrm>
            <a:off x="157165" y="57150"/>
            <a:ext cx="2343150" cy="1000125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blink</a:t>
            </a:r>
            <a:r>
              <a:rPr lang="en-US" sz="5400" dirty="0">
                <a:solidFill>
                  <a:srgbClr val="0C831F"/>
                </a:solidFill>
              </a:rPr>
              <a:t>it</a:t>
            </a:r>
            <a:endParaRPr lang="en-IN" sz="5400" dirty="0">
              <a:solidFill>
                <a:srgbClr val="0C831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CBEF0F-857D-2C95-9DE5-329B746314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7502" y="1414707"/>
            <a:ext cx="3686655" cy="253761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D077E26-AA20-E3AE-427D-BE04DD9D8C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7502" y="4286093"/>
            <a:ext cx="3686655" cy="231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624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1B7C3-FD1E-A7D9-7A14-B8FAFDF8C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56BF1-10B6-EA13-2E96-DF2191C9A2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142999"/>
          </a:xfrm>
          <a:solidFill>
            <a:srgbClr val="0C831F"/>
          </a:solidFill>
        </p:spPr>
        <p:txBody>
          <a:bodyPr>
            <a:noAutofit/>
          </a:bodyPr>
          <a:lstStyle/>
          <a:p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PRODUCT ANALYSIS</a:t>
            </a:r>
            <a:br>
              <a:rPr lang="en-IN" sz="2800" dirty="0"/>
            </a:br>
            <a:endParaRPr lang="en-IN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D214D3-EE2C-1358-6AB8-07126CE290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1143000"/>
            <a:ext cx="12192001" cy="5815012"/>
          </a:xfrm>
          <a:solidFill>
            <a:srgbClr val="F3EC5F"/>
          </a:solidFill>
        </p:spPr>
        <p:txBody>
          <a:bodyPr>
            <a:normAutofit/>
          </a:bodyPr>
          <a:lstStyle/>
          <a:p>
            <a:r>
              <a:rPr lang="en-IN" sz="2800" dirty="0"/>
              <a:t>BEST SELLING PRODUCTS (Quantity)</a:t>
            </a:r>
          </a:p>
          <a:p>
            <a:pPr algn="l"/>
            <a:r>
              <a:rPr lang="en-IN" sz="2800" dirty="0"/>
              <a:t>			Instant &amp; Frozen Food - 307212</a:t>
            </a:r>
          </a:p>
          <a:p>
            <a:pPr algn="l"/>
            <a:r>
              <a:rPr lang="en-IN" sz="2800" dirty="0"/>
              <a:t>			Baby Care		      - 348227</a:t>
            </a:r>
          </a:p>
          <a:p>
            <a:pPr algn="l"/>
            <a:r>
              <a:rPr lang="en-IN" sz="2800" dirty="0"/>
              <a:t>			Grocery &amp; Staples        - 359937</a:t>
            </a:r>
          </a:p>
          <a:p>
            <a:pPr algn="l"/>
            <a:r>
              <a:rPr lang="en-IN" sz="2800" dirty="0"/>
              <a:t>			Cold Drinks &amp; Juices    - 392717</a:t>
            </a:r>
          </a:p>
          <a:p>
            <a:pPr algn="l"/>
            <a:r>
              <a:rPr lang="en-IN" sz="2800" dirty="0"/>
              <a:t>			Snacks &amp; Munchies     - 394648</a:t>
            </a:r>
          </a:p>
          <a:p>
            <a:pPr algn="l"/>
            <a:endParaRPr lang="en-IN" sz="2800" dirty="0"/>
          </a:p>
          <a:p>
            <a:r>
              <a:rPr lang="en-IN" sz="2800" dirty="0"/>
              <a:t>AVERAGE BASKET SIZE: 2.01 items per order</a:t>
            </a:r>
          </a:p>
          <a:p>
            <a:pPr algn="l"/>
            <a:endParaRPr lang="en-IN" sz="2800" dirty="0"/>
          </a:p>
          <a:p>
            <a:r>
              <a:rPr lang="en-IN" sz="2800" dirty="0"/>
              <a:t>	  2.01 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5404EE0-15DB-D349-00BE-EE4F74C5E3E2}"/>
              </a:ext>
            </a:extLst>
          </p:cNvPr>
          <p:cNvSpPr/>
          <p:nvPr/>
        </p:nvSpPr>
        <p:spPr>
          <a:xfrm>
            <a:off x="157165" y="57150"/>
            <a:ext cx="2343150" cy="1000125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blink</a:t>
            </a:r>
            <a:r>
              <a:rPr lang="en-US" sz="5400" dirty="0">
                <a:solidFill>
                  <a:srgbClr val="0C831F"/>
                </a:solidFill>
              </a:rPr>
              <a:t>it</a:t>
            </a:r>
            <a:endParaRPr lang="en-IN" sz="5400" dirty="0">
              <a:solidFill>
                <a:srgbClr val="0C831F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BC08F72-6405-671E-9F2D-8CB372D920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4766" y="5458130"/>
            <a:ext cx="871233" cy="8712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6939E3E-AFD6-CD33-EA8B-2F3B76F5C5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0094" y="3700785"/>
            <a:ext cx="466758" cy="56200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3C2D109-A057-432A-9CA8-291B5E07CF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3252" y="3028779"/>
            <a:ext cx="800441" cy="80044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D734FCB-7EC1-8017-7A0F-CB4F76EF00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0094" y="2080858"/>
            <a:ext cx="506439" cy="51435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71CADCA-AE5D-1475-FFDC-EBF9B75EBE2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775" y="1490846"/>
            <a:ext cx="499758" cy="49975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6B33E22-7F1B-EFF9-7FF9-890E24FF9C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8602" y="2671958"/>
            <a:ext cx="509740" cy="509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501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DD06F-132F-547F-D34F-02F55CC1D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02DD8-1EF9-4937-9B9E-C6AAFFB8D8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142999"/>
          </a:xfrm>
          <a:solidFill>
            <a:srgbClr val="0C831F"/>
          </a:solidFill>
        </p:spPr>
        <p:txBody>
          <a:bodyPr>
            <a:noAutofit/>
          </a:bodyPr>
          <a:lstStyle/>
          <a:p>
            <a:r>
              <a:rPr lang="en-IN" sz="2800" b="1" dirty="0"/>
              <a:t>MARKETING ROI ANALYSIS</a:t>
            </a:r>
            <a:b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B11EE9-3CC1-6733-C92D-1F51C86D44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1143000"/>
            <a:ext cx="12192001" cy="5815012"/>
          </a:xfrm>
          <a:solidFill>
            <a:srgbClr val="F3EC5F"/>
          </a:solidFill>
        </p:spPr>
        <p:txBody>
          <a:bodyPr>
            <a:normAutofit/>
          </a:bodyPr>
          <a:lstStyle/>
          <a:p>
            <a:pPr algn="l"/>
            <a:r>
              <a:rPr lang="en-IN" sz="2800" dirty="0"/>
              <a:t>TOP PERFORMING CAMPAIGNS (ROAS &gt; 3)</a:t>
            </a:r>
          </a:p>
          <a:p>
            <a:pPr lvl="5" algn="l"/>
            <a:r>
              <a:rPr lang="en-IN" sz="2400" dirty="0"/>
              <a:t>Campaign  	         | Spend       | Revenue   | ROAS</a:t>
            </a:r>
          </a:p>
          <a:p>
            <a:pPr lvl="5" algn="l"/>
            <a:r>
              <a:rPr lang="en-IN" sz="2400" dirty="0"/>
              <a:t>Weekend Special   | ₹2683.84  | ₹2645.4    | 4</a:t>
            </a:r>
          </a:p>
          <a:p>
            <a:pPr lvl="5" algn="l"/>
            <a:r>
              <a:rPr lang="en-IN" sz="2400" dirty="0"/>
              <a:t>Email Campaign     | ₹3599.79  | ₹4311.79  | 4  </a:t>
            </a:r>
          </a:p>
          <a:p>
            <a:pPr lvl="5" algn="l"/>
            <a:r>
              <a:rPr lang="en-IN" sz="2400" dirty="0"/>
              <a:t>New User Discount| ₹4683.64  | ₹6103.83 | 4</a:t>
            </a:r>
          </a:p>
          <a:p>
            <a:pPr algn="l"/>
            <a:endParaRPr lang="en-IN" sz="2800" dirty="0"/>
          </a:p>
          <a:p>
            <a:pPr algn="l"/>
            <a:r>
              <a:rPr lang="en-IN" sz="2800" dirty="0"/>
              <a:t>MOST EFFECTIVE CHANNELS</a:t>
            </a:r>
          </a:p>
          <a:p>
            <a:pPr algn="l"/>
            <a:endParaRPr lang="en-IN" dirty="0"/>
          </a:p>
          <a:p>
            <a:pPr marL="3657600" lvl="7" indent="-457200" algn="l">
              <a:buFont typeface="Arial" panose="020B0604020202020204" pitchFamily="34" charset="0"/>
              <a:buChar char="•"/>
            </a:pPr>
            <a:r>
              <a:rPr lang="en-IN" sz="2400" dirty="0"/>
              <a:t>Mobile App   	- 2.8</a:t>
            </a:r>
          </a:p>
          <a:p>
            <a:pPr marL="3657600" lvl="7" indent="-457200" algn="l">
              <a:buFont typeface="Arial" panose="020B0604020202020204" pitchFamily="34" charset="0"/>
              <a:buChar char="•"/>
            </a:pPr>
            <a:r>
              <a:rPr lang="en-IN" sz="2400" dirty="0"/>
              <a:t>Email 	           	- 2.7</a:t>
            </a:r>
          </a:p>
          <a:p>
            <a:pPr marL="3657600" lvl="7" indent="-457200" algn="l">
              <a:buFont typeface="Arial" panose="020B0604020202020204" pitchFamily="34" charset="0"/>
              <a:buChar char="•"/>
            </a:pPr>
            <a:r>
              <a:rPr lang="en-IN" sz="2400" dirty="0"/>
              <a:t>Social Media   	- 2.7</a:t>
            </a:r>
          </a:p>
          <a:p>
            <a:pPr marL="3657600" lvl="7" indent="-457200" algn="l">
              <a:buFont typeface="Arial" panose="020B0604020202020204" pitchFamily="34" charset="0"/>
              <a:buChar char="•"/>
            </a:pPr>
            <a:r>
              <a:rPr lang="en-IN" sz="2400" dirty="0"/>
              <a:t>SMS                  	- 2.7 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3D3807F-1F2F-FFDB-1701-9363B906BD3E}"/>
              </a:ext>
            </a:extLst>
          </p:cNvPr>
          <p:cNvSpPr/>
          <p:nvPr/>
        </p:nvSpPr>
        <p:spPr>
          <a:xfrm>
            <a:off x="157165" y="57150"/>
            <a:ext cx="2343150" cy="1000125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blink</a:t>
            </a:r>
            <a:r>
              <a:rPr lang="en-US" sz="5400" dirty="0">
                <a:solidFill>
                  <a:srgbClr val="0C831F"/>
                </a:solidFill>
              </a:rPr>
              <a:t>it</a:t>
            </a:r>
            <a:endParaRPr lang="en-IN" sz="5400" dirty="0">
              <a:solidFill>
                <a:srgbClr val="0C83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0533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4F153-7F05-4C69-D8CD-D9D80BA7E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1F571-4662-D0D5-E662-7D1A674E97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142999"/>
          </a:xfrm>
          <a:solidFill>
            <a:srgbClr val="0C831F"/>
          </a:solidFill>
        </p:spPr>
        <p:txBody>
          <a:bodyPr>
            <a:normAutofit/>
          </a:bodyPr>
          <a:lstStyle/>
          <a:p>
            <a:r>
              <a:rPr lang="en-IN" sz="2400" b="1" dirty="0"/>
              <a:t>CUSTOMER SATISFACTION</a:t>
            </a:r>
            <a:br>
              <a:rPr lang="en-IN" sz="2400" b="1" dirty="0"/>
            </a:br>
            <a:endParaRPr lang="en-IN" sz="24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B8A16E-449D-5F6A-C724-FC541A18AE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1143000"/>
            <a:ext cx="12192001" cy="5815012"/>
          </a:xfrm>
          <a:solidFill>
            <a:srgbClr val="F3EC5F"/>
          </a:solidFill>
        </p:spPr>
        <p:txBody>
          <a:bodyPr>
            <a:normAutofit/>
          </a:bodyPr>
          <a:lstStyle/>
          <a:p>
            <a:r>
              <a:rPr lang="en-IN" sz="2800" dirty="0"/>
              <a:t>SENTIMENT ANALYSIS</a:t>
            </a:r>
          </a:p>
          <a:p>
            <a:pPr algn="l"/>
            <a:endParaRPr lang="en-IN" sz="2800" dirty="0"/>
          </a:p>
          <a:p>
            <a:pPr algn="l"/>
            <a:r>
              <a:rPr lang="en-IN" sz="2800" dirty="0"/>
              <a:t>● Neutral - 35%  </a:t>
            </a:r>
          </a:p>
          <a:p>
            <a:pPr algn="l"/>
            <a:r>
              <a:rPr lang="en-IN" sz="2800" dirty="0"/>
              <a:t>● Positive - 32%</a:t>
            </a:r>
          </a:p>
          <a:p>
            <a:pPr algn="l"/>
            <a:r>
              <a:rPr lang="en-IN" sz="2800" dirty="0"/>
              <a:t>● Negative - 33%</a:t>
            </a:r>
          </a:p>
          <a:p>
            <a:endParaRPr lang="en-IN" sz="2800" dirty="0"/>
          </a:p>
          <a:p>
            <a:r>
              <a:rPr lang="en-IN" sz="2800" dirty="0"/>
              <a:t>TOP FEEDBACK THEMES</a:t>
            </a:r>
          </a:p>
          <a:p>
            <a:endParaRPr lang="en-IN" sz="2800" dirty="0"/>
          </a:p>
          <a:p>
            <a:endParaRPr lang="en-IN" sz="2800" dirty="0"/>
          </a:p>
          <a:p>
            <a:r>
              <a:rPr lang="en-IN" sz="2800" dirty="0"/>
              <a:t>AVERAGE RATING: 3.3/5.0</a:t>
            </a:r>
          </a:p>
          <a:p>
            <a:endParaRPr lang="en-IN" sz="28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8A09941-893D-BF9A-DFC4-FC64F0D7DABD}"/>
              </a:ext>
            </a:extLst>
          </p:cNvPr>
          <p:cNvSpPr/>
          <p:nvPr/>
        </p:nvSpPr>
        <p:spPr>
          <a:xfrm>
            <a:off x="157165" y="57150"/>
            <a:ext cx="2343150" cy="1000125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blink</a:t>
            </a:r>
            <a:r>
              <a:rPr lang="en-US" sz="5400" dirty="0">
                <a:solidFill>
                  <a:srgbClr val="0C831F"/>
                </a:solidFill>
              </a:rPr>
              <a:t>it</a:t>
            </a:r>
            <a:endParaRPr lang="en-IN" sz="5400" dirty="0">
              <a:solidFill>
                <a:srgbClr val="0C831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2608B0-5237-C379-17AA-EC83D2413C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2725" y="1587931"/>
            <a:ext cx="3410426" cy="2255406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50C6E07-8B22-66E8-7594-EE8B7BFD2B99}"/>
              </a:ext>
            </a:extLst>
          </p:cNvPr>
          <p:cNvSpPr/>
          <p:nvPr/>
        </p:nvSpPr>
        <p:spPr>
          <a:xfrm>
            <a:off x="69056" y="4636292"/>
            <a:ext cx="1428750" cy="67151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OTHER</a:t>
            </a:r>
          </a:p>
          <a:p>
            <a:pPr algn="ctr"/>
            <a:r>
              <a:rPr lang="en-IN" dirty="0"/>
              <a:t>2413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02E2E6B-117D-E84F-5FB5-58150F168B70}"/>
              </a:ext>
            </a:extLst>
          </p:cNvPr>
          <p:cNvSpPr/>
          <p:nvPr/>
        </p:nvSpPr>
        <p:spPr>
          <a:xfrm>
            <a:off x="1532334" y="4636292"/>
            <a:ext cx="1428750" cy="67151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QUALITY</a:t>
            </a:r>
          </a:p>
          <a:p>
            <a:pPr algn="ctr"/>
            <a:r>
              <a:rPr lang="en-IN" dirty="0"/>
              <a:t>831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835C8E8-3C76-5A8E-2EC3-DB30B22D67E0}"/>
              </a:ext>
            </a:extLst>
          </p:cNvPr>
          <p:cNvSpPr/>
          <p:nvPr/>
        </p:nvSpPr>
        <p:spPr>
          <a:xfrm>
            <a:off x="3050381" y="4636291"/>
            <a:ext cx="1428750" cy="67151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DELIVERY</a:t>
            </a:r>
          </a:p>
          <a:p>
            <a:pPr algn="ctr"/>
            <a:r>
              <a:rPr lang="en-IN" dirty="0"/>
              <a:t>651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37EB465-94A3-C980-F267-EFCB5FF20645}"/>
              </a:ext>
            </a:extLst>
          </p:cNvPr>
          <p:cNvSpPr/>
          <p:nvPr/>
        </p:nvSpPr>
        <p:spPr>
          <a:xfrm>
            <a:off x="4548188" y="4619984"/>
            <a:ext cx="1428750" cy="67151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SERVICE</a:t>
            </a:r>
          </a:p>
          <a:p>
            <a:pPr algn="ctr"/>
            <a:r>
              <a:rPr lang="en-IN" dirty="0"/>
              <a:t>457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71A8D2F-0593-996C-5076-B76351F6CCD8}"/>
              </a:ext>
            </a:extLst>
          </p:cNvPr>
          <p:cNvSpPr/>
          <p:nvPr/>
        </p:nvSpPr>
        <p:spPr>
          <a:xfrm>
            <a:off x="6066235" y="4636290"/>
            <a:ext cx="1428750" cy="67151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LATE</a:t>
            </a:r>
          </a:p>
          <a:p>
            <a:pPr algn="ctr"/>
            <a:r>
              <a:rPr lang="en-IN" dirty="0"/>
              <a:t>182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98D78B0-562C-34D9-75B7-3CFAECCCE7CC}"/>
              </a:ext>
            </a:extLst>
          </p:cNvPr>
          <p:cNvSpPr/>
          <p:nvPr/>
        </p:nvSpPr>
        <p:spPr>
          <a:xfrm>
            <a:off x="7662853" y="4612844"/>
            <a:ext cx="1428750" cy="67151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PRICE</a:t>
            </a:r>
          </a:p>
          <a:p>
            <a:pPr algn="ctr"/>
            <a:r>
              <a:rPr lang="en-IN" dirty="0"/>
              <a:t>175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50483ED-2AB4-D55E-7455-73653D205D4A}"/>
              </a:ext>
            </a:extLst>
          </p:cNvPr>
          <p:cNvSpPr/>
          <p:nvPr/>
        </p:nvSpPr>
        <p:spPr>
          <a:xfrm>
            <a:off x="9203529" y="4598555"/>
            <a:ext cx="1428750" cy="67151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PACKAGING</a:t>
            </a:r>
          </a:p>
          <a:p>
            <a:pPr algn="ctr"/>
            <a:r>
              <a:rPr lang="en-IN" dirty="0"/>
              <a:t>146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1E571BA-65E5-8506-DD31-14CF1BB4B350}"/>
              </a:ext>
            </a:extLst>
          </p:cNvPr>
          <p:cNvSpPr/>
          <p:nvPr/>
        </p:nvSpPr>
        <p:spPr>
          <a:xfrm>
            <a:off x="10725147" y="4605696"/>
            <a:ext cx="1428750" cy="67151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FRESH</a:t>
            </a:r>
          </a:p>
          <a:p>
            <a:pPr algn="ctr"/>
            <a:r>
              <a:rPr lang="en-IN" dirty="0"/>
              <a:t>145</a:t>
            </a:r>
          </a:p>
        </p:txBody>
      </p:sp>
      <p:pic>
        <p:nvPicPr>
          <p:cNvPr id="19" name="Graphic 18" descr="Star with solid fill">
            <a:extLst>
              <a:ext uri="{FF2B5EF4-FFF2-40B4-BE49-F238E27FC236}">
                <a16:creationId xmlns:a16="http://schemas.microsoft.com/office/drawing/2014/main" id="{CD409153-2BD9-C6E0-F07D-3993414CE3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02919" y="6205534"/>
            <a:ext cx="490538" cy="490538"/>
          </a:xfrm>
          <a:prstGeom prst="rect">
            <a:avLst/>
          </a:prstGeom>
        </p:spPr>
      </p:pic>
      <p:pic>
        <p:nvPicPr>
          <p:cNvPr id="20" name="Graphic 19" descr="Star with solid fill">
            <a:extLst>
              <a:ext uri="{FF2B5EF4-FFF2-40B4-BE49-F238E27FC236}">
                <a16:creationId xmlns:a16="http://schemas.microsoft.com/office/drawing/2014/main" id="{B7DBF978-97D9-D877-B985-2D8B5B292A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31556" y="6205534"/>
            <a:ext cx="490538" cy="490538"/>
          </a:xfrm>
          <a:prstGeom prst="rect">
            <a:avLst/>
          </a:prstGeom>
        </p:spPr>
      </p:pic>
      <p:pic>
        <p:nvPicPr>
          <p:cNvPr id="21" name="Graphic 20" descr="Star with solid fill">
            <a:extLst>
              <a:ext uri="{FF2B5EF4-FFF2-40B4-BE49-F238E27FC236}">
                <a16:creationId xmlns:a16="http://schemas.microsoft.com/office/drawing/2014/main" id="{471C35CE-DED8-BDAF-4914-3874C8A31A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22095" y="6205534"/>
            <a:ext cx="490538" cy="490538"/>
          </a:xfrm>
          <a:prstGeom prst="rect">
            <a:avLst/>
          </a:prstGeom>
        </p:spPr>
      </p:pic>
      <p:pic>
        <p:nvPicPr>
          <p:cNvPr id="22" name="Graphic 21" descr="Star with solid fill">
            <a:extLst>
              <a:ext uri="{FF2B5EF4-FFF2-40B4-BE49-F238E27FC236}">
                <a16:creationId xmlns:a16="http://schemas.microsoft.com/office/drawing/2014/main" id="{94DB497F-0791-E1FE-722D-D8EB4468DF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67400" y="6189227"/>
            <a:ext cx="490538" cy="490538"/>
          </a:xfrm>
          <a:prstGeom prst="rect">
            <a:avLst/>
          </a:prstGeom>
        </p:spPr>
      </p:pic>
      <p:pic>
        <p:nvPicPr>
          <p:cNvPr id="23" name="Graphic 22" descr="Star with solid fill">
            <a:extLst>
              <a:ext uri="{FF2B5EF4-FFF2-40B4-BE49-F238E27FC236}">
                <a16:creationId xmlns:a16="http://schemas.microsoft.com/office/drawing/2014/main" id="{8202E7E6-2D00-3B88-3FF8-F4E1F33FF5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72226" y="6186842"/>
            <a:ext cx="490538" cy="490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73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6BEFD-EC2B-C63F-BA53-7CDCF1167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A6BB4-2B6C-1265-3463-04ECA6240A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142999"/>
          </a:xfrm>
          <a:solidFill>
            <a:srgbClr val="0C831F"/>
          </a:solidFill>
        </p:spPr>
        <p:txBody>
          <a:bodyPr>
            <a:normAutofit/>
          </a:bodyPr>
          <a:lstStyle/>
          <a:p>
            <a:r>
              <a:rPr lang="en-IN" sz="2400" b="1" dirty="0"/>
              <a:t>KEY</a:t>
            </a:r>
            <a:r>
              <a:rPr lang="en-IN" sz="2800" b="1" dirty="0"/>
              <a:t> </a:t>
            </a:r>
            <a:r>
              <a:rPr lang="en-IN" sz="2400" b="1" dirty="0"/>
              <a:t>INSIGHTS</a:t>
            </a:r>
            <a:br>
              <a:rPr lang="en-IN" sz="1600" dirty="0"/>
            </a:br>
            <a:endParaRPr lang="en-IN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352143-0DEB-2D28-D62C-41E2131383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1143000"/>
            <a:ext cx="12192001" cy="5815012"/>
          </a:xfrm>
          <a:solidFill>
            <a:srgbClr val="F3EC5F"/>
          </a:solidFill>
        </p:spPr>
        <p:txBody>
          <a:bodyPr/>
          <a:lstStyle/>
          <a:p>
            <a:endParaRPr lang="en-IN" sz="2800" dirty="0"/>
          </a:p>
          <a:p>
            <a:r>
              <a:rPr lang="en-IN" sz="2800" dirty="0"/>
              <a:t>💰 UPI dominates payments (24% of revenue)</a:t>
            </a:r>
          </a:p>
          <a:p>
            <a:r>
              <a:rPr lang="en-IN" sz="2800" dirty="0"/>
              <a:t>📍Jalna has highest customer concentration  </a:t>
            </a:r>
          </a:p>
          <a:p>
            <a:r>
              <a:rPr lang="en-IN" sz="2800" dirty="0"/>
              <a:t>🥛 Dairy &amp; Breakfast is top revenue category</a:t>
            </a:r>
          </a:p>
          <a:p>
            <a:r>
              <a:rPr lang="en-IN" sz="2800" dirty="0"/>
              <a:t>🚚 69.4% on-time delivery rate across stores</a:t>
            </a:r>
          </a:p>
          <a:p>
            <a:r>
              <a:rPr lang="en-IN" sz="2800" dirty="0"/>
              <a:t>📱 Mobile app campaigns have highest ROAS (2.8)</a:t>
            </a:r>
          </a:p>
          <a:p>
            <a:r>
              <a:rPr lang="en-IN" sz="2800" dirty="0"/>
              <a:t>⭐ 32.4% positive customer sentiment</a:t>
            </a:r>
          </a:p>
          <a:p>
            <a:endParaRPr lang="en-IN" sz="28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FC7846D-C70A-6799-36C0-7B674F681883}"/>
              </a:ext>
            </a:extLst>
          </p:cNvPr>
          <p:cNvSpPr/>
          <p:nvPr/>
        </p:nvSpPr>
        <p:spPr>
          <a:xfrm>
            <a:off x="157165" y="57150"/>
            <a:ext cx="2343150" cy="1000125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blink</a:t>
            </a:r>
            <a:r>
              <a:rPr lang="en-US" sz="5400" dirty="0">
                <a:solidFill>
                  <a:srgbClr val="0C831F"/>
                </a:solidFill>
              </a:rPr>
              <a:t>it</a:t>
            </a:r>
            <a:endParaRPr lang="en-IN" sz="5400" dirty="0">
              <a:solidFill>
                <a:srgbClr val="0C83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5562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15704-ABD2-8D9F-828E-C617F3CFD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53E37-7EE3-93EC-5317-EBB525BC19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142999"/>
          </a:xfrm>
          <a:solidFill>
            <a:srgbClr val="0C831F"/>
          </a:solidFill>
        </p:spPr>
        <p:txBody>
          <a:bodyPr>
            <a:normAutofit/>
          </a:bodyPr>
          <a:lstStyle/>
          <a:p>
            <a:r>
              <a:rPr lang="en-IN" sz="2400" b="1" dirty="0"/>
              <a:t>ACTIONABLE RECOMMENDATIONS</a:t>
            </a:r>
            <a:br>
              <a:rPr lang="en-IN" sz="2400" b="1" dirty="0"/>
            </a:br>
            <a:endParaRPr lang="en-IN" sz="24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6B6BD8-2350-91CD-DA3E-B3DB348512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1143000"/>
            <a:ext cx="12192001" cy="5815012"/>
          </a:xfrm>
          <a:solidFill>
            <a:srgbClr val="F3EC5F"/>
          </a:solidFill>
        </p:spPr>
        <p:txBody>
          <a:bodyPr>
            <a:normAutofit fontScale="77500" lnSpcReduction="20000"/>
          </a:bodyPr>
          <a:lstStyle/>
          <a:p>
            <a:pPr algn="l"/>
            <a:endParaRPr lang="en-IN" sz="2800" dirty="0"/>
          </a:p>
          <a:p>
            <a:pPr algn="l"/>
            <a:r>
              <a:rPr lang="en-IN" sz="2800" dirty="0"/>
              <a:t>1. ENHANCE DELIVERY NETWORK</a:t>
            </a:r>
          </a:p>
          <a:p>
            <a:pPr algn="l"/>
            <a:r>
              <a:rPr lang="en-IN" sz="2800" dirty="0"/>
              <a:t>  		● Target stores with &lt;90% on-time rate</a:t>
            </a:r>
          </a:p>
          <a:p>
            <a:pPr algn="l"/>
            <a:r>
              <a:rPr lang="en-IN" sz="2800" dirty="0"/>
              <a:t>   		● Optimize delivery routes in high-density areas</a:t>
            </a:r>
          </a:p>
          <a:p>
            <a:pPr algn="l"/>
            <a:endParaRPr lang="en-IN" sz="2800" dirty="0"/>
          </a:p>
          <a:p>
            <a:pPr algn="l"/>
            <a:r>
              <a:rPr lang="en-IN" sz="2800" dirty="0"/>
              <a:t>2. FOCUS MARKETING EFFORTS  </a:t>
            </a:r>
          </a:p>
          <a:p>
            <a:pPr algn="l"/>
            <a:r>
              <a:rPr lang="en-IN" sz="2800" dirty="0"/>
              <a:t>   		● Increase budget for mobile app campaigns</a:t>
            </a:r>
          </a:p>
          <a:p>
            <a:pPr algn="l"/>
            <a:r>
              <a:rPr lang="en-IN" sz="2800" dirty="0"/>
              <a:t>   		● Replicate successful Summer Sale strategy</a:t>
            </a:r>
          </a:p>
          <a:p>
            <a:pPr algn="l"/>
            <a:endParaRPr lang="en-IN" sz="2800" dirty="0"/>
          </a:p>
          <a:p>
            <a:pPr algn="l"/>
            <a:r>
              <a:rPr lang="en-IN" sz="2800" dirty="0"/>
              <a:t>3. IMPROVE CUSTOMER EXPERIENCE</a:t>
            </a:r>
          </a:p>
          <a:p>
            <a:pPr algn="l"/>
            <a:r>
              <a:rPr lang="en-IN" sz="2800" dirty="0"/>
              <a:t>   		● Address delivery delay concerns</a:t>
            </a:r>
          </a:p>
          <a:p>
            <a:pPr algn="l"/>
            <a:r>
              <a:rPr lang="en-IN" sz="2800" dirty="0"/>
              <a:t>   		● Implement quality control for fresh products</a:t>
            </a:r>
          </a:p>
          <a:p>
            <a:pPr algn="l"/>
            <a:endParaRPr lang="en-IN" sz="2800" dirty="0"/>
          </a:p>
          <a:p>
            <a:pPr algn="l"/>
            <a:r>
              <a:rPr lang="en-IN" sz="2800" dirty="0"/>
              <a:t>4. EXPAND HIGH-PERFORMING CATEGORIES</a:t>
            </a:r>
          </a:p>
          <a:p>
            <a:pPr algn="l"/>
            <a:r>
              <a:rPr lang="en-IN" sz="2800" dirty="0"/>
              <a:t>   		● Increase inventory for Dairy &amp; Snacks</a:t>
            </a:r>
          </a:p>
          <a:p>
            <a:pPr algn="l"/>
            <a:r>
              <a:rPr lang="en-IN" sz="2800" dirty="0"/>
              <a:t>   		● Promote complementary product bundles</a:t>
            </a:r>
          </a:p>
          <a:p>
            <a:pPr algn="l"/>
            <a:endParaRPr lang="en-IN" sz="28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459EF8F-6907-13AD-7D17-CC8B4F166331}"/>
              </a:ext>
            </a:extLst>
          </p:cNvPr>
          <p:cNvSpPr/>
          <p:nvPr/>
        </p:nvSpPr>
        <p:spPr>
          <a:xfrm>
            <a:off x="157165" y="57150"/>
            <a:ext cx="2343150" cy="1000125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blink</a:t>
            </a:r>
            <a:r>
              <a:rPr lang="en-US" sz="5400" dirty="0">
                <a:solidFill>
                  <a:srgbClr val="0C831F"/>
                </a:solidFill>
              </a:rPr>
              <a:t>it</a:t>
            </a:r>
            <a:endParaRPr lang="en-IN" sz="5400" dirty="0">
              <a:solidFill>
                <a:srgbClr val="0C83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0424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9C855-26D4-A878-6A9F-BD8072D5A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43190-812D-8797-D6D9-8A866FCDB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142999"/>
          </a:xfrm>
          <a:solidFill>
            <a:srgbClr val="0C831F"/>
          </a:solidFill>
        </p:spPr>
        <p:txBody>
          <a:bodyPr>
            <a:normAutofit/>
          </a:bodyPr>
          <a:lstStyle/>
          <a:p>
            <a:r>
              <a:rPr lang="en-US" sz="2400" b="1" dirty="0"/>
              <a:t>CONCLUSION</a:t>
            </a:r>
            <a:br>
              <a:rPr lang="en-IN" sz="2400" b="1" dirty="0"/>
            </a:br>
            <a:endParaRPr lang="en-IN" sz="24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2524DA-4674-717B-8054-F1D839C866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1143000"/>
            <a:ext cx="12192001" cy="5815012"/>
          </a:xfrm>
          <a:solidFill>
            <a:srgbClr val="F3EC5F"/>
          </a:solidFill>
        </p:spPr>
        <p:txBody>
          <a:bodyPr>
            <a:noAutofit/>
          </a:bodyPr>
          <a:lstStyle/>
          <a:p>
            <a:r>
              <a:rPr lang="en-US" dirty="0"/>
              <a:t>This analysis provides actionable insights across all business functions, enabling data-driven decision making for growth and optimization. </a:t>
            </a:r>
          </a:p>
          <a:p>
            <a:r>
              <a:rPr lang="en-US" dirty="0"/>
              <a:t>NEXT STEPS</a:t>
            </a:r>
          </a:p>
          <a:p>
            <a:endParaRPr lang="en-US" dirty="0"/>
          </a:p>
          <a:p>
            <a:r>
              <a:rPr lang="en-US" sz="2000" dirty="0"/>
              <a:t>● Implement recommended strategies</a:t>
            </a:r>
          </a:p>
          <a:p>
            <a:r>
              <a:rPr lang="en-US" sz="2000" dirty="0"/>
              <a:t>            ● Establish continuous monitoring dashboard  </a:t>
            </a:r>
          </a:p>
          <a:p>
            <a:r>
              <a:rPr lang="en-US" sz="2000" dirty="0"/>
              <a:t>  ● Conduct A/B testing for new initiatives</a:t>
            </a:r>
          </a:p>
          <a:p>
            <a:r>
              <a:rPr lang="en-US" sz="2000" dirty="0"/>
              <a:t>         ● Expand analysis to include seasonal trends</a:t>
            </a:r>
          </a:p>
          <a:p>
            <a:endParaRPr lang="en-US" dirty="0"/>
          </a:p>
          <a:p>
            <a:r>
              <a:rPr lang="en-US" dirty="0"/>
              <a:t>Q&amp;A</a:t>
            </a:r>
          </a:p>
          <a:p>
            <a:r>
              <a:rPr lang="en-US" dirty="0"/>
              <a:t>Ritesh Kumar </a:t>
            </a:r>
          </a:p>
          <a:p>
            <a:r>
              <a:rPr lang="en-US" dirty="0"/>
              <a:t>+91- 8292882529</a:t>
            </a:r>
          </a:p>
          <a:p>
            <a:r>
              <a:rPr lang="en-US" dirty="0"/>
              <a:t>riteshkumarsingh9363@gmail.com</a:t>
            </a:r>
          </a:p>
          <a:p>
            <a:endParaRPr lang="en-US" dirty="0"/>
          </a:p>
          <a:p>
            <a:r>
              <a:rPr lang="en-US" dirty="0"/>
              <a:t>[</a:t>
            </a:r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1F9780C-8BE8-B9C5-A47A-C02348B142CA}"/>
              </a:ext>
            </a:extLst>
          </p:cNvPr>
          <p:cNvSpPr/>
          <p:nvPr/>
        </p:nvSpPr>
        <p:spPr>
          <a:xfrm>
            <a:off x="157165" y="57150"/>
            <a:ext cx="2343150" cy="1000125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blink</a:t>
            </a:r>
            <a:r>
              <a:rPr lang="en-US" sz="5400" dirty="0">
                <a:solidFill>
                  <a:srgbClr val="0C831F"/>
                </a:solidFill>
              </a:rPr>
              <a:t>it</a:t>
            </a:r>
            <a:endParaRPr lang="en-IN" sz="5400" dirty="0">
              <a:solidFill>
                <a:srgbClr val="0C83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7911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</TotalTime>
  <Words>1271</Words>
  <Application>Microsoft Office PowerPoint</Application>
  <PresentationFormat>Widescreen</PresentationFormat>
  <Paragraphs>189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Wingdings</vt:lpstr>
      <vt:lpstr>Office Theme</vt:lpstr>
      <vt:lpstr> </vt:lpstr>
      <vt:lpstr>PROJECT OVERVIEW  </vt:lpstr>
      <vt:lpstr>DATABASE ARCHITECTURE  </vt:lpstr>
      <vt:lpstr>CUSTOMER INSIGHTS </vt:lpstr>
      <vt:lpstr>REVENUE ANALYSIS </vt:lpstr>
      <vt:lpstr>PRODUCT ANALYSIS </vt:lpstr>
      <vt:lpstr>MARKETING ROI ANALYSIS </vt:lpstr>
      <vt:lpstr>CUSTOMER SATISFACTION </vt:lpstr>
      <vt:lpstr>KEY INSIGHTS </vt:lpstr>
      <vt:lpstr>ACTIONABLE RECOMMENDATIONS 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ritesh singh</dc:creator>
  <cp:lastModifiedBy>Ritesh Singh</cp:lastModifiedBy>
  <cp:revision>5</cp:revision>
  <dcterms:created xsi:type="dcterms:W3CDTF">2025-09-16T18:37:45Z</dcterms:created>
  <dcterms:modified xsi:type="dcterms:W3CDTF">2026-07-05T10:10:45Z</dcterms:modified>
</cp:coreProperties>
</file>